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Heritage</c:v>
                  </c:pt>
                  <c:pt idx="1">
                    <c:v>Calcio</c:v>
                  </c:pt>
                  <c:pt idx="2">
                    <c:v>Running</c:v>
                  </c:pt>
                  <c:pt idx="3">
                    <c:v>Tennis</c:v>
                  </c:pt>
                  <c:pt idx="4">
                    <c:v>Padel</c:v>
                  </c:pt>
                  <c:pt idx="5">
                    <c:v>Sportswear</c:v>
                  </c:pt>
                  <c:pt idx="6">
                    <c:v>Calcetto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203.66</c:v>
                </c:pt>
                <c:pt idx="1">
                  <c:v>175.51</c:v>
                </c:pt>
                <c:pt idx="2">
                  <c:v>164.33</c:v>
                </c:pt>
                <c:pt idx="3">
                  <c:v>147.29</c:v>
                </c:pt>
                <c:pt idx="4">
                  <c:v>118.33</c:v>
                </c:pt>
                <c:pt idx="5">
                  <c:v>91.05</c:v>
                </c:pt>
                <c:pt idx="6">
                  <c:v>62.5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Derby</c:v>
                  </c:pt>
                  <c:pt idx="1">
                    <c:v>Stringate</c:v>
                  </c:pt>
                  <c:pt idx="2">
                    <c:v>Mocassini</c:v>
                  </c:pt>
                  <c:pt idx="3">
                    <c:v>Sandali</c:v>
                  </c:pt>
                  <c:pt idx="4">
                    <c:v>Stivali</c:v>
                  </c:pt>
                  <c:pt idx="5">
                    <c:v>Sneaker</c:v>
                  </c:pt>
                  <c:pt idx="6">
                    <c:v>Anfibi</c:v>
                  </c:pt>
                  <c:pt idx="7">
                    <c:v>Ballerine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151.17</c:v>
                </c:pt>
                <c:pt idx="1">
                  <c:v>149.5</c:v>
                </c:pt>
                <c:pt idx="2">
                  <c:v>144.6</c:v>
                </c:pt>
                <c:pt idx="3">
                  <c:v>139.85</c:v>
                </c:pt>
                <c:pt idx="4">
                  <c:v>138.75</c:v>
                </c:pt>
                <c:pt idx="5">
                  <c:v>128.56</c:v>
                </c:pt>
                <c:pt idx="6">
                  <c:v>117.08</c:v>
                </c:pt>
                <c:pt idx="7">
                  <c:v>102.69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Sneaker</c:v>
                  </c:pt>
                  <c:pt idx="1">
                    <c:v>Platform</c:v>
                  </c:pt>
                  <c:pt idx="2">
                    <c:v>Sandali</c:v>
                  </c:pt>
                  <c:pt idx="3">
                    <c:v>Ballerina</c:v>
                  </c:pt>
                  <c:pt idx="4">
                    <c:v>Stivali</c:v>
                  </c:pt>
                  <c:pt idx="5">
                    <c:v>Espadrillas</c:v>
                  </c:pt>
                  <c:pt idx="6">
                    <c:v>Senza lacci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81.91</c:v>
                </c:pt>
                <c:pt idx="1">
                  <c:v>81.72</c:v>
                </c:pt>
                <c:pt idx="2">
                  <c:v>59.58</c:v>
                </c:pt>
                <c:pt idx="3">
                  <c:v>79.44</c:v>
                </c:pt>
                <c:pt idx="4">
                  <c:v>77.76</c:v>
                </c:pt>
                <c:pt idx="5">
                  <c:v>56.36</c:v>
                </c:pt>
                <c:pt idx="6">
                  <c:v>50.35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Nerogiardini</c:v>
                  </c:pt>
                  <c:pt idx="1">
                    <c:v>Diadora</c:v>
                  </c:pt>
                  <c:pt idx="2">
                    <c:v>Superga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128.56</c:v>
                </c:pt>
                <c:pt idx="1">
                  <c:v>91.05</c:v>
                </c:pt>
                <c:pt idx="2">
                  <c:v>81.91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Nerogiardini</c:v>
                  </c:pt>
                  <c:pt idx="1">
                    <c:v>Superga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139.85</c:v>
                </c:pt>
                <c:pt idx="1">
                  <c:v>59.58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Nerogiardini</c:v>
                  </c:pt>
                  <c:pt idx="1">
                    <c:v>Superga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138.75</c:v>
                </c:pt>
                <c:pt idx="1">
                  <c:v>77.76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Nerogiardini</c:v>
                  </c:pt>
                  <c:pt idx="1">
                    <c:v>Superga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102.69</c:v>
                </c:pt>
                <c:pt idx="1">
                  <c:v>79.44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Nerogiardini</c:v>
                  </c:pt>
                  <c:pt idx="1">
                    <c:v>Superga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117.08</c:v>
                </c:pt>
                <c:pt idx="1">
                  <c:v>56.36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Prezzo Medio Generale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Generale (€)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Diadora</c:v>
                  </c:pt>
                  <c:pt idx="1">
                    <c:v>Nerogiardini</c:v>
                  </c:pt>
                  <c:pt idx="2">
                    <c:v>Superga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</c:v>
                </c:pt>
                <c:pt idx="1">
                  <c:v>134</c:v>
                </c:pt>
                <c:pt idx="2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Confronto Sneaker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Sneaker (€)</c:v>
                </c:pt>
              </c:strCache>
            </c:strRef>
          </c:tx>
          <c:spPr>
            <a:solidFill>
              <a:srgbClr val="E85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Nerogiardini</c:v>
                  </c:pt>
                  <c:pt idx="1">
                    <c:v>Diadora</c:v>
                  </c:pt>
                  <c:pt idx="2">
                    <c:v>Superga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128.56</c:v>
                </c:pt>
                <c:pt idx="1">
                  <c:v>91.05</c:v>
                </c:pt>
                <c:pt idx="2">
                  <c:v>81.91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Competitor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Settore Calzature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286000" cy="457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 · Nerogiardini · Superga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Week — Analisi prezzi e tipologie di calzatura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393192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109728" cy="12801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automatica dei dati dai siti ufficiali con Python (requests + BeautifulSoup)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109728" cy="12801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64608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Dati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938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Normalizzazione prezzi, categorizzazione tipologie da descrizioni HTML, rimozione duplicati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393192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43200"/>
            <a:ext cx="109728" cy="12801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34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493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di media, minimo e massimo per brand, categoria e tipologia con pandas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393192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43200"/>
            <a:ext cx="109728" cy="12801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834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64608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493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comparativa del posizionamento di prezzo tra i tre brand competitor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Raccolti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raccolti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· Sportswear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· Tennis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Calcio · Calcetto · Padel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Nerogiardini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raccolti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 · Sandali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Stivali · Mocassini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Ballerine · Anfibi · Derby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Superga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raccolti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 ·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 · Ballerine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Espadrillas · Stivali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Diadora — Prezzi per Tipologia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chiave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52160" y="14173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è la linea premium a €203 di media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21031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 Calcio nella fascia alta (€164–€175)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7889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Sportswear la più accessibile a €91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4747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molto ampia: da €18 a €300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Nerogiardini — Prezzi per Tipologia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chiave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52160" y="14173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 molto omogenei: tutte tra €102 e €151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21031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 è la categoria più numerosa (108 prodotti)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7889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fashion con scarpe eleganti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474720"/>
            <a:ext cx="164592" cy="164592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da €65 a €349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Superga — Prezzi per Tipologia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chiave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852160" y="14173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entry-level con prezzi accessibili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21031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 uomo le più care a €103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7889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bambini da €29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4747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da €29 a €150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Sneaker tra Brand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0" y="13716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 si posiziona nella fascia media a €91, più economica di Nerogiardini (€128) ma più cara di Superga (€82).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una posizione intermedia favorevole che permette di competere su entrambi i fronti.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Sandali &amp; Stivali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Stivali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2344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entrambe le categorie Nerogiardini è quasi il doppio di Superga — confermando target di mercato completamente diversi.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Ballerine &amp; Espadrillas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Ballerine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Espadrillas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663440" y="12344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espadrillas di Superga sono tra i prodotti più economici dell'analisi a €56 — Nerogiardini le vende a €117, più del doppio.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Prezzi tra Brand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029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65760" y="315468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68680"/>
          <a:ext cx="329184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Diadora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Nerogiardini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&amp; Raccomandazioni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17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417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 premium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 ha il prezzo medio più alto (€148), posizionandosi come brand premium rispetto ai competitor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417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97280"/>
            <a:ext cx="91440" cy="1417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fashion vs sport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Nerogiardini (€134) compete nel fashion, Superga (€74) nel casual entry-level — target molto diversi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91440" cy="1417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Opportunità Sneaker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 (€91) è più economica di Nerogiardini (€128) ma più cara di Superga (€82) — posizione intermedia favorevole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023360" cy="1417320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788920"/>
            <a:ext cx="91440" cy="14173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prezzi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Diadora ha la gamma più ampia (€18–€300), offrendo prodotti per tutti i segmenti di mercato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Competitor Calzature</dc:title>
  <dc:subject>PptxGenJS Presentation</dc:subject>
  <dc:creator>PptxGenJS</dc:creator>
  <cp:lastModifiedBy>PptxGenJS</cp:lastModifiedBy>
  <cp:revision>1</cp:revision>
  <dcterms:created xsi:type="dcterms:W3CDTF">2026-05-22T16:57:53Z</dcterms:created>
  <dcterms:modified xsi:type="dcterms:W3CDTF">2026-05-22T16:57:53Z</dcterms:modified>
</cp:coreProperties>
</file>